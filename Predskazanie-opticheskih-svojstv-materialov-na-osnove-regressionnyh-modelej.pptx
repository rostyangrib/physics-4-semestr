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6" r:id="rId6"/>
    <p:sldId id="265" r:id="rId7"/>
    <p:sldId id="267" r:id="rId8"/>
    <p:sldId id="261" r:id="rId9"/>
    <p:sldId id="263" r:id="rId10"/>
  </p:sldIdLst>
  <p:sldSz cx="14630400" cy="8229600"/>
  <p:notesSz cx="8229600" cy="14630400"/>
  <p:embeddedFontLst>
    <p:embeddedFont>
      <p:font typeface="DM Sans Medium" pitchFamily="2" charset="0"/>
      <p:regular r:id="rId12"/>
    </p:embeddedFont>
    <p:embeddedFont>
      <p:font typeface="Inter" panose="020B0604020202020204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10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-gen.materialsproject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refractiveindex.inf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69987" y="888892"/>
            <a:ext cx="12847053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Предсказание оптических свойств материалов на основе регрессионных моделей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369987" y="3026092"/>
            <a:ext cx="1295978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этой работе исследуется возможность предсказания коэффициента преломления простых неорганических материалов с помощью модели случайного леса. Используются физические параметры: плотность, ширина запрещённой зоны и электронная диэлектрическая проницаемость. Данные взяты из базы </a:t>
            </a:r>
            <a:r>
              <a:rPr lang="en-US" sz="3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/>
              </a:rPr>
              <a:t>Materials Project </a:t>
            </a:r>
            <a:r>
              <a:rPr lang="en-US" sz="3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</a:t>
            </a:r>
            <a:r>
              <a:rPr lang="en-US" sz="3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/>
              </a:rPr>
              <a:t>Refractive Index Database</a:t>
            </a:r>
            <a:r>
              <a:rPr lang="en-US" sz="3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D200F85-6FBB-2994-71BC-A2D9F6E46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3025" y="7588218"/>
            <a:ext cx="185737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0079" y="496610"/>
            <a:ext cx="7883842" cy="112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Физические основы коэффициента преломления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30079" y="1891784"/>
            <a:ext cx="7883842" cy="1325285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810101" y="2071807"/>
            <a:ext cx="3423166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Коэффициент преломления (n)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10101" y="2461022"/>
            <a:ext cx="7523798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Безразмерная величина, показывающая, во сколько раз скорость света в веществе меньше, чем в вакууме.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079" y="3397091"/>
            <a:ext cx="7883842" cy="1325285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810101" y="3577114"/>
            <a:ext cx="225051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Запрещённая зона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10101" y="3966329"/>
            <a:ext cx="7523798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Диапазон энергий, в котором электрон не может находиться. 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079" y="4902398"/>
            <a:ext cx="7883842" cy="1325285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810101" y="5082421"/>
            <a:ext cx="36955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Диэлектрическая проницаемость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10101" y="5471636"/>
            <a:ext cx="7523798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ru-RU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Показывает, насколько сильно материал реагирует на электрическое поле, т.е. насколько он поляризуем. 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079" y="6407706"/>
            <a:ext cx="7883842" cy="1325285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810101" y="6587728"/>
            <a:ext cx="2396490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Плотность материала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10101" y="6976943"/>
            <a:ext cx="7523798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Определяет массу вещества в </a:t>
            </a:r>
            <a:r>
              <a:rPr lang="ru-RU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единице объема.</a:t>
            </a:r>
            <a:endParaRPr lang="en-US" sz="1400" dirty="0"/>
          </a:p>
        </p:txBody>
      </p:sp>
      <p:pic>
        <p:nvPicPr>
          <p:cNvPr id="1028" name="Picture 4" descr="Плотность вещества">
            <a:extLst>
              <a:ext uri="{FF2B5EF4-FFF2-40B4-BE49-F238E27FC236}">
                <a16:creationId xmlns:a16="http://schemas.microsoft.com/office/drawing/2014/main" id="{4A923F1D-1172-985B-C359-F5FE53B5A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571" y="2023943"/>
            <a:ext cx="4981575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85ACBF6-E5A8-8E6D-8C3C-78B2AE074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4023" y="7542623"/>
            <a:ext cx="1803748" cy="6285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0329" y="3840480"/>
            <a:ext cx="13019961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Машинное обучение в физике: подготовка данных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0329" y="4805362"/>
            <a:ext cx="469463" cy="469463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808553" y="4844415"/>
            <a:ext cx="312896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408390" y="4877038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Сбор данных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408390" y="5328166"/>
            <a:ext cx="3538061" cy="1669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Использованы базы Materials Project и Refractive Index для параметров и экспериментальных коэффициентов преломления.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07198" y="4805362"/>
            <a:ext cx="469463" cy="469463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5285423" y="4844415"/>
            <a:ext cx="312896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5885259" y="4877038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Предобработка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5885259" y="5328166"/>
            <a:ext cx="3538061" cy="1669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Диэлектрическая проницаемость представлена тензором 3x3, для анализа взяты диагональные элементы и применено логарифмирование параметров.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84068" y="4805362"/>
            <a:ext cx="469463" cy="469463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3" name="Text 10"/>
          <p:cNvSpPr/>
          <p:nvPr/>
        </p:nvSpPr>
        <p:spPr>
          <a:xfrm>
            <a:off x="9762292" y="4844415"/>
            <a:ext cx="312896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10362128" y="4877038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Выбор признаков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362128" y="5328166"/>
            <a:ext cx="3538061" cy="1669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Использованы логарифмы плотности, ширины запрещённой зоны и компонент диэлектрической проницаемости по осям x, y, z.</a:t>
            </a:r>
            <a:endParaRPr lang="en-US" sz="1600" dirty="0"/>
          </a:p>
        </p:txBody>
      </p:sp>
      <p:pic>
        <p:nvPicPr>
          <p:cNvPr id="2050" name="Picture 2" descr="Физически информированное машинное обучение, или Как я перестал бояться и  полюбил искусственный интеллект / Хабр">
            <a:extLst>
              <a:ext uri="{FF2B5EF4-FFF2-40B4-BE49-F238E27FC236}">
                <a16:creationId xmlns:a16="http://schemas.microsoft.com/office/drawing/2014/main" id="{82FDA1B1-533C-6FA0-9119-C0C4311AA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773" y="131280"/>
            <a:ext cx="9213273" cy="318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E420587-84CF-C769-0841-663A60346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0175" y="7570284"/>
            <a:ext cx="1800225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55137" y="4760771"/>
            <a:ext cx="13786506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Программная реализация и данные для обучения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355136" y="5722807"/>
            <a:ext cx="1192012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 включают логарифмы плотности, ширины запрещённой зоны и компонентов диэлектрической проницаемости, а также экспериментальные коэффициенты преломления. 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355136" y="6633850"/>
            <a:ext cx="104427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 разделены на обучающую и тестовую выборки для проверки качества модели.</a:t>
            </a:r>
            <a:endParaRPr lang="en-US" sz="175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5845F0-21CA-D45A-0498-630FCAA0DA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0"/>
          <a:stretch/>
        </p:blipFill>
        <p:spPr bwMode="auto">
          <a:xfrm>
            <a:off x="1454930" y="125235"/>
            <a:ext cx="11958122" cy="42686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B382CB4-3A97-E228-328B-BA6D935DD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3025" y="7562332"/>
            <a:ext cx="185737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EC1A67-149E-D857-3C5E-EF0FFBF3A2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7" t="34278" r="-3457"/>
          <a:stretch/>
        </p:blipFill>
        <p:spPr>
          <a:xfrm>
            <a:off x="1124972" y="2004165"/>
            <a:ext cx="12027357" cy="59441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9CE9AE-A946-DB59-BCD5-7DB0F6007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13007"/>
            <a:ext cx="1857375" cy="647700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AA661B6F-9B56-49CE-5293-D4078D27B44D}"/>
              </a:ext>
            </a:extLst>
          </p:cNvPr>
          <p:cNvSpPr/>
          <p:nvPr/>
        </p:nvSpPr>
        <p:spPr>
          <a:xfrm>
            <a:off x="1368226" y="281274"/>
            <a:ext cx="1233348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refractive_index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</a:t>
            </a:r>
            <a:r>
              <a:rPr lang="ru-RU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настоящий коэффициент преломления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log_density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</a:t>
            </a:r>
            <a:r>
              <a:rPr lang="ru-RU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логарифм плотности материала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log_band_gap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</a:t>
            </a:r>
            <a:r>
              <a:rPr lang="ru-RU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логарифм ширины запрещенной зоны материала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log_eps_xx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log_eps_yy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log_eps_zz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</a:t>
            </a:r>
            <a:r>
              <a:rPr lang="ru-RU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логарифмы компонент электронной диэлектрическая проницаемость материала 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92946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1BF424C-13D2-15B4-BED4-BAFB68445C9B}"/>
              </a:ext>
            </a:extLst>
          </p:cNvPr>
          <p:cNvSpPr/>
          <p:nvPr/>
        </p:nvSpPr>
        <p:spPr>
          <a:xfrm>
            <a:off x="906525" y="263185"/>
            <a:ext cx="93829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Пример построенного дерева из  случайного леса</a:t>
            </a:r>
            <a:endParaRPr lang="en-US" sz="44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0DA353-BEF3-E47D-4F16-D4D386412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548" y="7583561"/>
            <a:ext cx="1853852" cy="64603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3E717A-D24F-B787-DFBF-D3150FD7F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37" t="13274" r="9784" b="9439"/>
          <a:stretch/>
        </p:blipFill>
        <p:spPr>
          <a:xfrm>
            <a:off x="1031785" y="1432093"/>
            <a:ext cx="13135152" cy="653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9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C66DF4-58D2-53D4-1484-2C9E04E5EE49}"/>
              </a:ext>
            </a:extLst>
          </p:cNvPr>
          <p:cNvSpPr/>
          <p:nvPr/>
        </p:nvSpPr>
        <p:spPr>
          <a:xfrm>
            <a:off x="4250974" y="266213"/>
            <a:ext cx="93829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ru-RU" sz="4450" dirty="0">
                <a:solidFill>
                  <a:srgbClr val="F7F7F8"/>
                </a:solidFill>
              </a:rPr>
              <a:t>Тестирование модели</a:t>
            </a:r>
            <a:endParaRPr lang="en-US" sz="44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9D60C2-F76C-89D2-6002-51FB2076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203" y="2048780"/>
            <a:ext cx="14740859" cy="321735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98215F2-4B62-7B2A-1FF8-CD901F4EB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1900"/>
            <a:ext cx="18573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29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1751" y="347603"/>
            <a:ext cx="93829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Результаты тестирования модели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04860" y="31553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Точность модели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93010"/>
            <a:ext cx="3785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Случайный лес хорошо предсказывает коэффициент преломления на основе физических параметров.</a:t>
            </a:r>
            <a:endParaRPr lang="en-US" sz="175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4603206-ED67-FA51-1B4D-AB722EDB83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87" b="1"/>
          <a:stretch/>
        </p:blipFill>
        <p:spPr bwMode="auto">
          <a:xfrm>
            <a:off x="5848758" y="1188214"/>
            <a:ext cx="7987852" cy="62612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8960854-9F0F-A61D-4820-80278723D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3025" y="7588163"/>
            <a:ext cx="185737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8987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Выводы и перспективы исследования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47593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1303973" y="2783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Улучшение знаний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138011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расширил понимание оптических свойств материалов и машинного обучения.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090630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1251585" y="4188620"/>
            <a:ext cx="30658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Практические навыки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51585" y="4589620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Освоены методы построения случайного леса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28083" y="5533667"/>
            <a:ext cx="170021" cy="1579126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1303973" y="5590722"/>
            <a:ext cx="38059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Дальнейшие исследования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03973" y="6024085"/>
            <a:ext cx="63657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требует доработки, но подтверждает перспективность подхода и необходимость продолжения работы.</a:t>
            </a:r>
            <a:endParaRPr lang="en-US" sz="17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D136D1F-719F-EC05-92AC-E3B7F655C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0175" y="7600950"/>
            <a:ext cx="1800225" cy="628650"/>
          </a:xfrm>
          <a:prstGeom prst="rect">
            <a:avLst/>
          </a:prstGeom>
        </p:spPr>
      </p:pic>
      <p:pic>
        <p:nvPicPr>
          <p:cNvPr id="3076" name="Picture 4" descr="Физик – Описание профессии. Где учиться и где работать">
            <a:extLst>
              <a:ext uri="{FF2B5EF4-FFF2-40B4-BE49-F238E27FC236}">
                <a16:creationId xmlns:a16="http://schemas.microsoft.com/office/drawing/2014/main" id="{08C58A11-95C4-D791-2848-0490610CB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174" y="665407"/>
            <a:ext cx="5545226" cy="68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337</Words>
  <Application>Microsoft Office PowerPoint</Application>
  <PresentationFormat>Произвольный</PresentationFormat>
  <Paragraphs>46</Paragraphs>
  <Slides>9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Inter</vt:lpstr>
      <vt:lpstr>DM Sans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Rostyan</cp:lastModifiedBy>
  <cp:revision>3</cp:revision>
  <dcterms:created xsi:type="dcterms:W3CDTF">2025-05-24T03:12:17Z</dcterms:created>
  <dcterms:modified xsi:type="dcterms:W3CDTF">2025-05-24T06:46:55Z</dcterms:modified>
</cp:coreProperties>
</file>